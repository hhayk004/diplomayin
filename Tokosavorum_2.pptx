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9" r:id="rId4"/>
    <p:sldId id="261" r:id="rId5"/>
    <p:sldId id="257" r:id="rId6"/>
    <p:sldId id="258" r:id="rId7"/>
    <p:sldId id="259" r:id="rId8"/>
    <p:sldId id="260" r:id="rId9"/>
    <p:sldId id="262" r:id="rId10"/>
    <p:sldId id="271" r:id="rId11"/>
    <p:sldId id="266" r:id="rId12"/>
    <p:sldId id="267" r:id="rId13"/>
    <p:sldId id="270" r:id="rId14"/>
    <p:sldId id="265" r:id="rId15"/>
    <p:sldId id="268" r:id="rId16"/>
    <p:sldId id="263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642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8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86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994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99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51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60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104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0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80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43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45A88-84CD-47B4-B068-1CCEBD78BFD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95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8276" y="634091"/>
            <a:ext cx="10635448" cy="3485148"/>
          </a:xfrm>
        </p:spPr>
        <p:txBody>
          <a:bodyPr>
            <a:noAutofit/>
          </a:bodyPr>
          <a:lstStyle/>
          <a:p>
            <a:r>
              <a:rPr lang="hy-AM" sz="4000" dirty="0" smtClean="0">
                <a:solidFill>
                  <a:schemeClr val="accent5">
                    <a:lumMod val="75000"/>
                  </a:schemeClr>
                </a:solidFill>
                <a:latin typeface="Stylafen"/>
              </a:rPr>
              <a:t>Վարկային </a:t>
            </a:r>
            <a:r>
              <a:rPr lang="hy-AM" sz="4000" dirty="0">
                <a:solidFill>
                  <a:schemeClr val="accent5">
                    <a:lumMod val="75000"/>
                  </a:schemeClr>
                </a:solidFill>
                <a:latin typeface="Stylafen"/>
              </a:rPr>
              <a:t>ռիսկի մոդելավորում ամպային տեխնոլոգիաներով և ակնկալվող վարկային վնասների գնահատում՝ ֆինանսական տվյալների հիման վրա (ՖՀՄՍ 9 պահանջների համատեքստում</a:t>
            </a:r>
            <a:r>
              <a:rPr lang="hy-AM" sz="4000" dirty="0" smtClean="0">
                <a:solidFill>
                  <a:schemeClr val="accent5">
                    <a:lumMod val="75000"/>
                  </a:schemeClr>
                </a:solidFill>
                <a:latin typeface="Stylafen"/>
              </a:rPr>
              <a:t>)</a:t>
            </a:r>
            <a:endParaRPr lang="ru-RU" sz="4000" dirty="0">
              <a:solidFill>
                <a:schemeClr val="accent5">
                  <a:lumMod val="75000"/>
                </a:schemeClr>
              </a:solidFill>
              <a:latin typeface="Stylafen"/>
            </a:endParaRPr>
          </a:p>
        </p:txBody>
      </p:sp>
      <p:sp>
        <p:nvSpPr>
          <p:cNvPr id="5" name="AutoShape 4" descr="Types Of Servers: Shared, Dedicated, Cloud, and Virtual — Jones IT"/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1524000" y="4924811"/>
            <a:ext cx="9144000" cy="63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hy-AM" sz="3200" dirty="0" smtClean="0">
                <a:solidFill>
                  <a:srgbClr val="002060"/>
                </a:solidFill>
              </a:rPr>
              <a:t>Հայկ Հովսեփյան ՄԹ240</a:t>
            </a:r>
            <a:endParaRPr lang="ru-RU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63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y-AM" dirty="0" smtClean="0">
                <a:latin typeface="Stylafen"/>
              </a:rPr>
              <a:t>Խնդրի Դրվածք</a:t>
            </a:r>
            <a:br>
              <a:rPr lang="hy-AM" dirty="0" smtClean="0">
                <a:latin typeface="Stylafen"/>
              </a:rPr>
            </a:br>
            <a:r>
              <a:rPr lang="hy-AM" sz="3600" dirty="0" smtClean="0">
                <a:latin typeface="Stylafen"/>
              </a:rPr>
              <a:t>Վարկային ռիսկի մոդելավորում</a:t>
            </a:r>
            <a:r>
              <a:rPr lang="en-US" sz="3600" dirty="0" smtClean="0">
                <a:latin typeface="Stylafen"/>
              </a:rPr>
              <a:t> </a:t>
            </a:r>
            <a:endParaRPr lang="ru-RU" sz="3600" dirty="0">
              <a:latin typeface="Stylafe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936" y="1992529"/>
            <a:ext cx="9806127" cy="411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1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y-AM" dirty="0" smtClean="0"/>
              <a:t>Տեղեկատվական Տեխնոլոգիաների Մոդելները</a:t>
            </a:r>
            <a:endParaRPr lang="ru-RU" dirty="0"/>
          </a:p>
        </p:txBody>
      </p:sp>
      <p:pic>
        <p:nvPicPr>
          <p:cNvPr id="5" name="Picture 2" descr="IaaS vs. PaaS vs. Sa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77" y="1896646"/>
            <a:ext cx="681404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853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y-AM" dirty="0" smtClean="0">
                <a:latin typeface="Stylafen"/>
              </a:rPr>
              <a:t>Ամպային Տեխնոլոգիաներ</a:t>
            </a:r>
            <a:endParaRPr lang="ru-RU" dirty="0">
              <a:latin typeface="Stylafen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82389"/>
            <a:ext cx="10515600" cy="3837810"/>
          </a:xfrm>
        </p:spPr>
      </p:pic>
    </p:spTree>
    <p:extLst>
      <p:ext uri="{BB962C8B-B14F-4D97-AF65-F5344CB8AC3E}">
        <p14:creationId xmlns:p14="http://schemas.microsoft.com/office/powerpoint/2010/main" val="29558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7250" y="337351"/>
            <a:ext cx="113900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ETL </a:t>
            </a:r>
            <a:r>
              <a:rPr lang="hy-AM" sz="4400" dirty="0" smtClean="0"/>
              <a:t>և </a:t>
            </a:r>
            <a:r>
              <a:rPr lang="en-US" sz="4400" dirty="0" smtClean="0"/>
              <a:t>ELT</a:t>
            </a:r>
            <a:r>
              <a:rPr lang="hy-AM" sz="4400" dirty="0"/>
              <a:t> </a:t>
            </a:r>
            <a:r>
              <a:rPr lang="hy-AM" sz="4400" dirty="0" smtClean="0"/>
              <a:t>տվյալների ինտեգրման եղանակներ</a:t>
            </a:r>
            <a:endParaRPr lang="ru-RU" sz="4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75" y="1405532"/>
            <a:ext cx="10058400" cy="475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5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y-AM" dirty="0" smtClean="0">
                <a:latin typeface="Stylafen"/>
              </a:rPr>
              <a:t>Մեդալիոն Ճարտարագիտություն</a:t>
            </a:r>
            <a:endParaRPr lang="ru-RU" dirty="0">
              <a:latin typeface="Stylafen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7972"/>
            <a:ext cx="10515600" cy="4315624"/>
          </a:xfrm>
        </p:spPr>
      </p:pic>
    </p:spTree>
    <p:extLst>
      <p:ext uri="{BB962C8B-B14F-4D97-AF65-F5344CB8AC3E}">
        <p14:creationId xmlns:p14="http://schemas.microsoft.com/office/powerpoint/2010/main" val="339883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8508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Stylafen"/>
              </a:rPr>
              <a:t>OLTP/OLAP </a:t>
            </a:r>
            <a:r>
              <a:rPr lang="hy-AM" dirty="0" smtClean="0">
                <a:latin typeface="Stylafen"/>
              </a:rPr>
              <a:t>համակարգեր</a:t>
            </a:r>
            <a:endParaRPr lang="ru-RU" dirty="0">
              <a:latin typeface="Stylafen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6113"/>
            <a:ext cx="10515600" cy="3155456"/>
          </a:xfrm>
        </p:spPr>
      </p:pic>
    </p:spTree>
    <p:extLst>
      <p:ext uri="{BB962C8B-B14F-4D97-AF65-F5344CB8AC3E}">
        <p14:creationId xmlns:p14="http://schemas.microsoft.com/office/powerpoint/2010/main" val="206893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18391"/>
            <a:ext cx="10515600" cy="1325563"/>
          </a:xfrm>
        </p:spPr>
        <p:txBody>
          <a:bodyPr/>
          <a:lstStyle/>
          <a:p>
            <a:pPr algn="ctr"/>
            <a:r>
              <a:rPr lang="hy-AM" dirty="0">
                <a:latin typeface="Stylafen"/>
              </a:rPr>
              <a:t>Տվյալային </a:t>
            </a:r>
            <a:r>
              <a:rPr lang="hy-AM" dirty="0" smtClean="0">
                <a:latin typeface="Stylafen"/>
              </a:rPr>
              <a:t>խողովակաշարեր</a:t>
            </a:r>
            <a:endParaRPr lang="ru-RU" dirty="0">
              <a:latin typeface="Stylafen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1743954"/>
            <a:ext cx="10515601" cy="3882683"/>
          </a:xfrm>
        </p:spPr>
      </p:pic>
    </p:spTree>
    <p:extLst>
      <p:ext uri="{BB962C8B-B14F-4D97-AF65-F5344CB8AC3E}">
        <p14:creationId xmlns:p14="http://schemas.microsoft.com/office/powerpoint/2010/main" val="323418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Stylafen"/>
              </a:rPr>
              <a:t>Azure Data Factory (ADF)</a:t>
            </a:r>
            <a:endParaRPr lang="ru-RU" dirty="0">
              <a:latin typeface="Stylafen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821" y="1825625"/>
            <a:ext cx="8936358" cy="4351338"/>
          </a:xfrm>
        </p:spPr>
      </p:pic>
    </p:spTree>
    <p:extLst>
      <p:ext uri="{BB962C8B-B14F-4D97-AF65-F5344CB8AC3E}">
        <p14:creationId xmlns:p14="http://schemas.microsoft.com/office/powerpoint/2010/main" val="240757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8392"/>
            <a:ext cx="10515600" cy="780094"/>
          </a:xfrm>
        </p:spPr>
        <p:txBody>
          <a:bodyPr/>
          <a:lstStyle/>
          <a:p>
            <a:pPr algn="ctr"/>
            <a:r>
              <a:rPr lang="hy-AM" b="1" dirty="0" smtClean="0"/>
              <a:t>Ռեգրեսսիոն Մոդելի Ընտրություն</a:t>
            </a:r>
            <a:endParaRPr lang="ru-R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3684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PD </a:t>
            </a:r>
            <a:r>
              <a:rPr lang="hy-AM" dirty="0" smtClean="0"/>
              <a:t>գործակցի հաշվելու համար մեզ անհրաժեշտ է մեքենայական ուսուցման մոդել, որը հիմնվելու է մեր ունեցած պատմական տվյալների հիման վրա, որն էլ միաժամանակ պետք է համապատասխանի ՖՀՄՍ 9 պահանջներին, դրանք են՝</a:t>
            </a:r>
          </a:p>
          <a:p>
            <a:pPr algn="just"/>
            <a:r>
              <a:rPr lang="en-US" dirty="0"/>
              <a:t>PD ∈ [0,1</a:t>
            </a:r>
            <a:r>
              <a:rPr lang="en-US" dirty="0" smtClean="0"/>
              <a:t>]</a:t>
            </a:r>
            <a:endParaRPr lang="hy-AM" dirty="0" smtClean="0"/>
          </a:p>
          <a:p>
            <a:pPr algn="just"/>
            <a:r>
              <a:rPr lang="hy-AM" dirty="0"/>
              <a:t>Մոդելի բացատրելիություն և </a:t>
            </a:r>
            <a:r>
              <a:rPr lang="hy-AM" dirty="0" smtClean="0"/>
              <a:t>թափանցիկություն</a:t>
            </a:r>
          </a:p>
          <a:p>
            <a:pPr algn="just"/>
            <a:r>
              <a:rPr lang="hy-AM" dirty="0" smtClean="0"/>
              <a:t>Կայունություն</a:t>
            </a:r>
            <a:endParaRPr lang="en-US" dirty="0" smtClean="0"/>
          </a:p>
          <a:p>
            <a:pPr algn="just"/>
            <a:r>
              <a:rPr lang="hy-AM" dirty="0"/>
              <a:t>Սահմանափակ </a:t>
            </a:r>
            <a:r>
              <a:rPr lang="hy-AM" dirty="0" smtClean="0"/>
              <a:t>տվյալներով </a:t>
            </a:r>
            <a:r>
              <a:rPr lang="hy-AM" dirty="0"/>
              <a:t>աշխատելու </a:t>
            </a:r>
            <a:r>
              <a:rPr lang="hy-AM" dirty="0" smtClean="0"/>
              <a:t>ունակություն</a:t>
            </a:r>
            <a:endParaRPr lang="en-US" dirty="0" smtClean="0"/>
          </a:p>
          <a:p>
            <a:pPr algn="just"/>
            <a:r>
              <a:rPr lang="hy-AM" dirty="0"/>
              <a:t>Հեշտ իրականացում և մատչելի սպասարկում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909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055" y="461639"/>
            <a:ext cx="10515600" cy="846169"/>
          </a:xfrm>
        </p:spPr>
        <p:txBody>
          <a:bodyPr/>
          <a:lstStyle/>
          <a:p>
            <a:pPr algn="ctr"/>
            <a:r>
              <a:rPr lang="en-US" dirty="0" smtClean="0"/>
              <a:t>PD (</a:t>
            </a:r>
            <a:r>
              <a:rPr lang="en-US" dirty="0"/>
              <a:t>Probability of </a:t>
            </a:r>
            <a:r>
              <a:rPr lang="en-US" dirty="0" smtClean="0"/>
              <a:t>Default)-</a:t>
            </a:r>
            <a:r>
              <a:rPr lang="hy-AM" dirty="0" smtClean="0"/>
              <a:t>ի Բանաձևը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59005" y="1161130"/>
                <a:ext cx="8149701" cy="970799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endParaRPr lang="ru-RU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y-AM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y-AM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hy-AM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hy-AM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hy-AM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y-AM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hy-AM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hy-AM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hy-AM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y-AM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9005" y="1161130"/>
                <a:ext cx="8149701" cy="97079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igmoid Function - GeeksforGee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946" y="2300606"/>
            <a:ext cx="6724624" cy="435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628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5541"/>
            <a:ext cx="10515600" cy="1325563"/>
          </a:xfrm>
        </p:spPr>
        <p:txBody>
          <a:bodyPr/>
          <a:lstStyle/>
          <a:p>
            <a:pPr algn="ctr"/>
            <a:r>
              <a:rPr lang="hy-AM" dirty="0"/>
              <a:t>EAD </a:t>
            </a:r>
            <a:r>
              <a:rPr lang="hy-AM" dirty="0" smtClean="0"/>
              <a:t>Գործակցի Բանաձևը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77377"/>
                <a:ext cx="10515600" cy="7577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y-AM" sz="3200" i="1">
                          <a:latin typeface="Cambria Math" panose="02040503050406030204" pitchFamily="18" charset="0"/>
                        </a:rPr>
                        <m:t>𝐸𝐴𝐷</m:t>
                      </m:r>
                      <m:r>
                        <a:rPr lang="hy-AM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y-AM" sz="3200" i="1">
                          <a:latin typeface="Cambria Math" panose="02040503050406030204" pitchFamily="18" charset="0"/>
                        </a:rPr>
                        <m:t>𝐷𝑟𝑎𝑤𝑛</m:t>
                      </m:r>
                      <m:r>
                        <a:rPr lang="hy-AM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y-AM" sz="3200" i="1">
                          <a:latin typeface="Cambria Math" panose="02040503050406030204" pitchFamily="18" charset="0"/>
                        </a:rPr>
                        <m:t>𝐴𝑚𝑜𝑢𝑛𝑡</m:t>
                      </m:r>
                      <m:r>
                        <a:rPr lang="hy-AM" sz="3200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hy-AM" sz="3200" i="1">
                          <a:latin typeface="Cambria Math" panose="02040503050406030204" pitchFamily="18" charset="0"/>
                        </a:rPr>
                        <m:t>𝐶𝐶𝐹</m:t>
                      </m:r>
                      <m:r>
                        <a:rPr lang="hy-AM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hy-AM" sz="3200" i="1">
                          <a:latin typeface="Cambria Math" panose="02040503050406030204" pitchFamily="18" charset="0"/>
                        </a:rPr>
                        <m:t>𝑈𝑛𝑑𝑟𝑎𝑤𝑛</m:t>
                      </m:r>
                      <m:r>
                        <a:rPr lang="hy-AM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y-AM" sz="3200" i="1">
                          <a:latin typeface="Cambria Math" panose="02040503050406030204" pitchFamily="18" charset="0"/>
                        </a:rPr>
                        <m:t>𝐴𝑚𝑜𝑢𝑛𝑡</m:t>
                      </m:r>
                      <m:r>
                        <a:rPr lang="hy-AM" sz="3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77377"/>
                <a:ext cx="10515600" cy="7577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527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915541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LGD</a:t>
            </a:r>
            <a:r>
              <a:rPr lang="hy-AM" dirty="0" smtClean="0"/>
              <a:t> Գործակցի Բանաձևը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77377"/>
                <a:ext cx="10515600" cy="7577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>
                          <a:latin typeface="Cambria Math" panose="02040503050406030204" pitchFamily="18" charset="0"/>
                        </a:rPr>
                        <m:t>𝐿𝐺𝐷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 = 1 − [ 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𝛴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𝐶𝑎𝑠h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) / (1 + 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)^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 ] / </m:t>
                      </m:r>
                      <m:r>
                        <a:rPr lang="ru-RU" b="0" i="1">
                          <a:latin typeface="Cambria Math" panose="02040503050406030204" pitchFamily="18" charset="0"/>
                        </a:rPr>
                        <m:t>𝐸𝐴𝐷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77377"/>
                <a:ext cx="10515600" cy="7577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9266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683" y="924419"/>
            <a:ext cx="11238390" cy="1325563"/>
          </a:xfrm>
        </p:spPr>
        <p:txBody>
          <a:bodyPr/>
          <a:lstStyle/>
          <a:p>
            <a:pPr algn="ctr"/>
            <a:r>
              <a:rPr lang="en-US" dirty="0" smtClean="0"/>
              <a:t>ECL (Expected Credit Loss) </a:t>
            </a:r>
            <a:r>
              <a:rPr lang="hy-AM" dirty="0" smtClean="0"/>
              <a:t>Հաշվման Բանաձևը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56787" y="3423606"/>
                <a:ext cx="8030592" cy="78441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5400" i="1">
                          <a:latin typeface="Cambria Math" panose="02040503050406030204" pitchFamily="18" charset="0"/>
                        </a:rPr>
                        <m:t>𝐸𝐶𝐿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𝑃𝐷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𝐸𝐴𝐷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𝐿𝐺𝐷</m:t>
                      </m:r>
                    </m:oMath>
                  </m:oMathPara>
                </a14:m>
                <a:endParaRPr lang="ru-RU" sz="5400" dirty="0"/>
              </a:p>
              <a:p>
                <a:pPr marL="0" indent="0">
                  <a:buNone/>
                </a:pPr>
                <a:endParaRPr lang="ru-RU" sz="5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6787" y="3423606"/>
                <a:ext cx="8030592" cy="784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601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977684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ECL-</a:t>
            </a:r>
            <a:r>
              <a:rPr lang="hy-AM" dirty="0" smtClean="0"/>
              <a:t>ի Հաշվարկման Ալգորիթմը</a:t>
            </a:r>
            <a:endParaRPr lang="ru-RU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4" y="2769107"/>
            <a:ext cx="11603069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845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8099" y="231821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y-AM" sz="6000" dirty="0" smtClean="0">
                <a:latin typeface="Stylafen"/>
              </a:rPr>
              <a:t>Շնորհակալություն</a:t>
            </a:r>
            <a:endParaRPr lang="ru-RU" sz="4800" dirty="0">
              <a:latin typeface="Stylafen"/>
            </a:endParaRPr>
          </a:p>
        </p:txBody>
      </p:sp>
    </p:spTree>
    <p:extLst>
      <p:ext uri="{BB962C8B-B14F-4D97-AF65-F5344CB8AC3E}">
        <p14:creationId xmlns:p14="http://schemas.microsoft.com/office/powerpoint/2010/main" val="248625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229</Words>
  <Application>Microsoft Office PowerPoint</Application>
  <PresentationFormat>Widescreen</PresentationFormat>
  <Paragraphs>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Stylafen</vt:lpstr>
      <vt:lpstr>Office Theme</vt:lpstr>
      <vt:lpstr>Վարկային ռիսկի մոդելավորում ամպային տեխնոլոգիաներով և ակնկալվող վարկային վնասների գնահատում՝ ֆինանսական տվյալների հիման վրա (ՖՀՄՍ 9 պահանջների համատեքստում)</vt:lpstr>
      <vt:lpstr>Խնդրի Դրվածք Վարկային ռիսկի մոդելավորում </vt:lpstr>
      <vt:lpstr>PowerPoint Presentation</vt:lpstr>
      <vt:lpstr>Ամպային Տեխնոլոգիաներ</vt:lpstr>
      <vt:lpstr>PowerPoint Presentation</vt:lpstr>
      <vt:lpstr>Մեդալիոն Ճարտարագիտություն</vt:lpstr>
      <vt:lpstr>OLTP/OLAP համակարգեր</vt:lpstr>
      <vt:lpstr>Տվյալային խողովակաշարեր</vt:lpstr>
      <vt:lpstr>Azure Data Factory (ADF)</vt:lpstr>
      <vt:lpstr>Ռեգրեսսիոն Մոդելի Ընտրություն</vt:lpstr>
      <vt:lpstr>PD (Probability of Default)-ի Բանաձևը</vt:lpstr>
      <vt:lpstr>EAD Գործակցի Բանաձևը</vt:lpstr>
      <vt:lpstr>LGD Գործակցի Բանաձևը</vt:lpstr>
      <vt:lpstr>ECL (Expected Credit Loss) Հաշվման Բանաձևը</vt:lpstr>
      <vt:lpstr>ECL-ի Հաշվարկման Ալգորիթմը</vt:lpstr>
      <vt:lpstr>Շնորհակալություն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43</cp:revision>
  <dcterms:created xsi:type="dcterms:W3CDTF">2025-12-04T19:58:14Z</dcterms:created>
  <dcterms:modified xsi:type="dcterms:W3CDTF">2026-03-09T21:34:41Z</dcterms:modified>
</cp:coreProperties>
</file>