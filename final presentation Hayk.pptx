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4" r:id="rId4"/>
    <p:sldId id="257" r:id="rId5"/>
    <p:sldId id="262" r:id="rId6"/>
    <p:sldId id="271" r:id="rId7"/>
    <p:sldId id="266" r:id="rId8"/>
    <p:sldId id="272" r:id="rId9"/>
    <p:sldId id="276" r:id="rId10"/>
    <p:sldId id="275" r:id="rId11"/>
    <p:sldId id="267" r:id="rId12"/>
    <p:sldId id="270" r:id="rId13"/>
    <p:sldId id="265" r:id="rId14"/>
    <p:sldId id="268" r:id="rId15"/>
    <p:sldId id="279" r:id="rId16"/>
    <p:sldId id="277" r:id="rId17"/>
    <p:sldId id="278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64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8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86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9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99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51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60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10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80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43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45A88-84CD-47B4-B068-1CCEBD78BFD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5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276" y="634091"/>
            <a:ext cx="10635448" cy="3087677"/>
          </a:xfrm>
        </p:spPr>
        <p:txBody>
          <a:bodyPr>
            <a:noAutofit/>
          </a:bodyPr>
          <a:lstStyle/>
          <a:p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Վարկային </a:t>
            </a:r>
            <a:r>
              <a:rPr lang="hy-AM" sz="4000" dirty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ռիսկի մոդելավորում ամպային տեխնոլոգիաներով և ակնկալվող վարկային վնասների գնահատում՝ ֆինանսական տվյալների հիման վրա (ՖՀՄՍ 9 պահանջների համատեքստում</a:t>
            </a:r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)</a:t>
            </a:r>
            <a:endParaRPr lang="ru-RU" sz="4000" dirty="0">
              <a:solidFill>
                <a:schemeClr val="accent5">
                  <a:lumMod val="75000"/>
                </a:schemeClr>
              </a:solidFill>
              <a:latin typeface="Stylafen"/>
            </a:endParaRPr>
          </a:p>
        </p:txBody>
      </p:sp>
      <p:sp>
        <p:nvSpPr>
          <p:cNvPr id="5" name="AutoShape 4" descr="Types Of Servers: Shared, Dedicated, Cloud, and Virtual — Jones IT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524000" y="4924811"/>
            <a:ext cx="9144000" cy="6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hy-AM" sz="3200" dirty="0" smtClean="0">
                <a:solidFill>
                  <a:srgbClr val="002060"/>
                </a:solidFill>
              </a:rPr>
              <a:t>Հայկ Հովսեփյան ՄԹ240</a:t>
            </a:r>
            <a:endParaRPr lang="ru-RU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63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Ամպային Տեխնոլոգիաներ</a:t>
            </a:r>
            <a:endParaRPr lang="ru-RU" dirty="0">
              <a:latin typeface="Stylafen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2389"/>
            <a:ext cx="10515600" cy="3837810"/>
          </a:xfrm>
        </p:spPr>
      </p:pic>
    </p:spTree>
    <p:extLst>
      <p:ext uri="{BB962C8B-B14F-4D97-AF65-F5344CB8AC3E}">
        <p14:creationId xmlns:p14="http://schemas.microsoft.com/office/powerpoint/2010/main" val="29558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6862439" cy="68624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7608" y="3346882"/>
            <a:ext cx="3129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smtClean="0"/>
              <a:t>www.statista.com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1697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250" y="337351"/>
            <a:ext cx="11390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ETL </a:t>
            </a:r>
            <a:r>
              <a:rPr lang="hy-AM" sz="4400" dirty="0" smtClean="0"/>
              <a:t>և </a:t>
            </a:r>
            <a:r>
              <a:rPr lang="en-US" sz="4400" dirty="0" smtClean="0"/>
              <a:t>ELT</a:t>
            </a:r>
            <a:r>
              <a:rPr lang="hy-AM" sz="4400" dirty="0"/>
              <a:t> </a:t>
            </a:r>
            <a:r>
              <a:rPr lang="hy-AM" sz="4400" dirty="0" smtClean="0"/>
              <a:t>տվյալների ինտեգրման եղանակներ</a:t>
            </a:r>
            <a:endParaRPr lang="ru-RU" sz="4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52" y="1204195"/>
            <a:ext cx="9821646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614" y="365125"/>
            <a:ext cx="6929761" cy="1325563"/>
          </a:xfrm>
        </p:spPr>
        <p:txBody>
          <a:bodyPr/>
          <a:lstStyle/>
          <a:p>
            <a:pPr algn="ctr"/>
            <a:r>
              <a:rPr lang="en-US" dirty="0" smtClean="0">
                <a:latin typeface="Stylafen"/>
              </a:rPr>
              <a:t>Azure Data Factory (ADF)</a:t>
            </a:r>
            <a:endParaRPr lang="ru-RU" dirty="0">
              <a:latin typeface="Stylafe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14" y="1905524"/>
            <a:ext cx="8936358" cy="4351338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40" y="632804"/>
            <a:ext cx="905846" cy="90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57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8392"/>
            <a:ext cx="10515600" cy="780094"/>
          </a:xfrm>
        </p:spPr>
        <p:txBody>
          <a:bodyPr/>
          <a:lstStyle/>
          <a:p>
            <a:pPr algn="ctr"/>
            <a:r>
              <a:rPr lang="hy-AM" b="1" dirty="0" smtClean="0"/>
              <a:t>Ռեգրեսսիոն Մոդելի Ընտրություն</a:t>
            </a:r>
            <a:endParaRPr lang="ru-R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3684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PD </a:t>
            </a:r>
            <a:r>
              <a:rPr lang="hy-AM" dirty="0" smtClean="0"/>
              <a:t>գործակցի հաշվելու համար մեզ անհրաժեշտ է մեքենայական ուսուցման մոդել, որը հիմնվելու է մեր ունեցած պատմական տվյալների հիման վրա, որն էլ միաժամանակ պետք է համապատասխանի ՖՀՄՍ 9 պահանջներին, դրանք են՝</a:t>
            </a:r>
          </a:p>
          <a:p>
            <a:pPr algn="just"/>
            <a:r>
              <a:rPr lang="en-US" dirty="0"/>
              <a:t>PD ∈ [0,1</a:t>
            </a:r>
            <a:r>
              <a:rPr lang="en-US" dirty="0" smtClean="0"/>
              <a:t>]</a:t>
            </a:r>
            <a:endParaRPr lang="hy-AM" dirty="0" smtClean="0"/>
          </a:p>
          <a:p>
            <a:pPr algn="just"/>
            <a:r>
              <a:rPr lang="hy-AM" dirty="0"/>
              <a:t>Մոդելի բացատրելիություն և </a:t>
            </a:r>
            <a:r>
              <a:rPr lang="hy-AM" dirty="0" smtClean="0"/>
              <a:t>թափանցիկություն</a:t>
            </a:r>
          </a:p>
          <a:p>
            <a:pPr algn="just"/>
            <a:r>
              <a:rPr lang="hy-AM" dirty="0" smtClean="0"/>
              <a:t>Կայունություն</a:t>
            </a:r>
            <a:endParaRPr lang="en-US" dirty="0" smtClean="0"/>
          </a:p>
          <a:p>
            <a:pPr algn="just"/>
            <a:r>
              <a:rPr lang="hy-AM" dirty="0"/>
              <a:t>Սահմանափակ </a:t>
            </a:r>
            <a:r>
              <a:rPr lang="hy-AM" dirty="0" smtClean="0"/>
              <a:t>տվյալներով </a:t>
            </a:r>
            <a:r>
              <a:rPr lang="hy-AM" dirty="0"/>
              <a:t>աշխատելու </a:t>
            </a:r>
            <a:r>
              <a:rPr lang="hy-AM" dirty="0" smtClean="0"/>
              <a:t>ունակություն</a:t>
            </a:r>
            <a:endParaRPr lang="en-US" dirty="0" smtClean="0"/>
          </a:p>
          <a:p>
            <a:pPr algn="just"/>
            <a:r>
              <a:rPr lang="hy-AM" dirty="0"/>
              <a:t>Հեշտ իրականացում և մատչելի սպասարկում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90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097" y="579336"/>
            <a:ext cx="10515600" cy="846169"/>
          </a:xfrm>
        </p:spPr>
        <p:txBody>
          <a:bodyPr/>
          <a:lstStyle/>
          <a:p>
            <a:pPr algn="ctr"/>
            <a:r>
              <a:rPr lang="en-US" dirty="0" smtClean="0"/>
              <a:t>PD (</a:t>
            </a:r>
            <a:r>
              <a:rPr lang="en-US" dirty="0"/>
              <a:t>Probability of </a:t>
            </a:r>
            <a:r>
              <a:rPr lang="en-US" dirty="0" smtClean="0"/>
              <a:t>Default)-</a:t>
            </a:r>
            <a:r>
              <a:rPr lang="hy-AM" dirty="0" smtClean="0"/>
              <a:t>ի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27951" y="4176197"/>
                <a:ext cx="8643892" cy="1042737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endParaRPr lang="ru-RU" sz="3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y-AM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hy-AM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hy-AM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hy-AM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y-AM" sz="32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hy-AM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hy-AM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hy-AM" sz="32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y-AM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27951" y="4176197"/>
                <a:ext cx="8643892" cy="104273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39014" y="1866044"/>
                <a:ext cx="72974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014" y="1866044"/>
                <a:ext cx="729744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39014" y="2891358"/>
                <a:ext cx="7297444" cy="1284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𝑎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ru-RU" sz="3200" dirty="0"/>
                            <m:t> </m:t>
                          </m:r>
                        </m:e>
                      </m:nary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014" y="2891358"/>
                <a:ext cx="7297444" cy="1284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62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igmoid Function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61" y="0"/>
            <a:ext cx="10608816" cy="686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7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452937" y="2227354"/>
                <a:ext cx="5739063" cy="2261937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tahn</m:t>
                    </m:r>
                    <m:d>
                      <m:d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hy-AM" sz="32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hy-AM" sz="3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p>
                        </m:sSup>
                        <m:r>
                          <a:rPr lang="hy-AM" sz="3200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hy-AM" sz="3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p>
                        </m:sSup>
                        <m:r>
                          <a:rPr lang="hy-AM" sz="3200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u-RU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hy-AM" sz="3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hy-AM" sz="32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200" dirty="0">
                    <a:latin typeface="+mn-lt"/>
                  </a:rPr>
                  <a:t> </a:t>
                </a:r>
                <a:r>
                  <a:rPr lang="en-US" sz="3200" dirty="0" smtClean="0">
                    <a:latin typeface="+mn-lt"/>
                  </a:rPr>
                  <a:t> [-1;1]</a:t>
                </a:r>
                <a:br>
                  <a:rPr lang="en-US" sz="3200" dirty="0" smtClean="0">
                    <a:latin typeface="+mn-lt"/>
                  </a:rPr>
                </a:br>
                <a:r>
                  <a:rPr lang="en-US" sz="3200" dirty="0" smtClean="0">
                    <a:latin typeface="+mn-lt"/>
                  </a:rPr>
                  <a:t/>
                </a:r>
                <a:br>
                  <a:rPr lang="en-US" sz="3200" dirty="0" smtClean="0">
                    <a:latin typeface="+mn-lt"/>
                  </a:rPr>
                </a:br>
                <a:r>
                  <a:rPr lang="en-US" sz="3200" dirty="0" err="1" smtClean="0">
                    <a:latin typeface="+mn-lt"/>
                  </a:rPr>
                  <a:t>new_tahn</a:t>
                </a:r>
                <a:r>
                  <a:rPr lang="en-US" sz="3200" dirty="0" smtClean="0">
                    <a:latin typeface="+mn-lt"/>
                  </a:rPr>
                  <a:t>(x)=(</a:t>
                </a:r>
                <a:r>
                  <a:rPr lang="en-US" sz="3200" dirty="0" err="1" smtClean="0">
                    <a:latin typeface="+mn-lt"/>
                  </a:rPr>
                  <a:t>tahn</a:t>
                </a:r>
                <a:r>
                  <a:rPr lang="en-US" sz="3200" dirty="0" smtClean="0">
                    <a:latin typeface="+mn-lt"/>
                  </a:rPr>
                  <a:t>(x)+1)/2 [0;1]</a:t>
                </a:r>
                <a:r>
                  <a:rPr lang="ru-RU" sz="3200" dirty="0">
                    <a:latin typeface="+mn-lt"/>
                  </a:rPr>
                  <a:t/>
                </a:r>
                <a:br>
                  <a:rPr lang="ru-RU" sz="3200" dirty="0">
                    <a:latin typeface="+mn-lt"/>
                  </a:rPr>
                </a:br>
                <a:endParaRPr lang="ru-RU" sz="32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52937" y="2227354"/>
                <a:ext cx="5739063" cy="2261937"/>
              </a:xfrm>
              <a:blipFill>
                <a:blip r:embed="rId2"/>
                <a:stretch>
                  <a:fillRect l="-27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029956"/>
            <a:ext cx="6452937" cy="46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3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422332" y="1609725"/>
            <a:ext cx="5347335" cy="363855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919765" y="0"/>
            <a:ext cx="10078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7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4488"/>
            <a:ext cx="10515600" cy="1325563"/>
          </a:xfrm>
        </p:spPr>
        <p:txBody>
          <a:bodyPr/>
          <a:lstStyle/>
          <a:p>
            <a:pPr algn="ctr"/>
            <a:r>
              <a:rPr lang="hy-AM" dirty="0"/>
              <a:t>EAD </a:t>
            </a:r>
            <a:r>
              <a:rPr lang="hy-AM" dirty="0" smtClean="0"/>
              <a:t>Գործակցի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50495" y="1954430"/>
                <a:ext cx="10515600" cy="7577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y-AM" sz="3200" i="1" smtClean="0">
                          <a:latin typeface="Cambria Math" panose="02040503050406030204" pitchFamily="18" charset="0"/>
                        </a:rPr>
                        <m:t>𝐸𝐴𝐷</m:t>
                      </m:r>
                      <m:r>
                        <a:rPr lang="hy-AM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𝑂𝑢𝑡𝑠𝑡𝑎𝑛𝑑𝑖𝑛𝑔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𝐵𝑎𝑙𝑎𝑛𝑐𝑒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+ 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𝐶𝑟𝑒𝑑𝑖𝑡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𝐿𝑖𝑚𝑖𝑡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𝐶𝐶𝐹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0495" y="1954430"/>
                <a:ext cx="10515600" cy="7577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315453" y="2826586"/>
            <a:ext cx="100383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	Outstanding Balance - </a:t>
            </a:r>
            <a:r>
              <a:rPr lang="hy-AM" sz="2800" dirty="0"/>
              <a:t>ընթացիկ պարտք,</a:t>
            </a:r>
          </a:p>
          <a:p>
            <a:r>
              <a:rPr lang="hy-AM" sz="2800" dirty="0"/>
              <a:t>•	</a:t>
            </a:r>
            <a:r>
              <a:rPr lang="en-US" sz="2800" dirty="0"/>
              <a:t>Credit Limit - </a:t>
            </a:r>
            <a:r>
              <a:rPr lang="hy-AM" sz="2800" dirty="0"/>
              <a:t>վարկային սահմանաչափ,</a:t>
            </a:r>
          </a:p>
          <a:p>
            <a:r>
              <a:rPr lang="hy-AM" sz="2800" dirty="0"/>
              <a:t>•	</a:t>
            </a:r>
            <a:r>
              <a:rPr lang="en-US" sz="2800" dirty="0"/>
              <a:t>CCF </a:t>
            </a:r>
            <a:r>
              <a:rPr lang="en-US" sz="2800" dirty="0" smtClean="0"/>
              <a:t>- </a:t>
            </a:r>
            <a:r>
              <a:rPr lang="hy-AM" sz="2800" dirty="0"/>
              <a:t>վարկային </a:t>
            </a:r>
            <a:r>
              <a:rPr lang="hy-AM" sz="2800" dirty="0" smtClean="0"/>
              <a:t>փոխակերպման</a:t>
            </a:r>
            <a:r>
              <a:rPr lang="en-US" sz="2800" dirty="0" smtClean="0"/>
              <a:t> </a:t>
            </a:r>
            <a:r>
              <a:rPr lang="hy-AM" sz="2800" dirty="0" smtClean="0"/>
              <a:t>գործակից </a:t>
            </a:r>
            <a:endParaRPr lang="en-US" sz="2800" dirty="0" smtClean="0"/>
          </a:p>
          <a:p>
            <a:r>
              <a:rPr lang="hy-AM" sz="2800" dirty="0" smtClean="0"/>
              <a:t>•	Գործնական նշանակությունը.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9552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651888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LGD</a:t>
            </a:r>
            <a:r>
              <a:rPr lang="hy-AM" dirty="0" smtClean="0"/>
              <a:t> </a:t>
            </a:r>
            <a:r>
              <a:rPr lang="en-US" dirty="0" smtClean="0"/>
              <a:t>(</a:t>
            </a:r>
            <a:r>
              <a:rPr lang="hy-AM" dirty="0"/>
              <a:t>Կորուստը չվճարման դեպքում</a:t>
            </a:r>
            <a:r>
              <a:rPr lang="en-US" dirty="0" smtClean="0"/>
              <a:t>) </a:t>
            </a:r>
            <a:r>
              <a:rPr lang="hy-AM" dirty="0" smtClean="0"/>
              <a:t>Գործակցի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96899"/>
                <a:ext cx="10515600" cy="7577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𝐿𝐺𝐷</m:t>
                      </m:r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 = 1 −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𝑅𝑒𝑐𝑜𝑣𝑒𝑟𝑦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96899"/>
                <a:ext cx="10515600" cy="7577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838200" y="4174124"/>
            <a:ext cx="10804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Recovery </a:t>
            </a:r>
            <a:r>
              <a:rPr lang="en-US" sz="2800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Rate –</a:t>
            </a:r>
            <a:r>
              <a:rPr lang="hy-AM" sz="2800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վերականգնվող գումարի տոկոսը դեֆոլտից հետո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3926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683" y="924419"/>
            <a:ext cx="11238390" cy="1325563"/>
          </a:xfrm>
        </p:spPr>
        <p:txBody>
          <a:bodyPr/>
          <a:lstStyle/>
          <a:p>
            <a:pPr algn="ctr"/>
            <a:r>
              <a:rPr lang="en-US" dirty="0" smtClean="0"/>
              <a:t>ECL (Expected Credit Loss) </a:t>
            </a:r>
            <a:r>
              <a:rPr lang="hy-AM" dirty="0" smtClean="0"/>
              <a:t>Հաշվման Բանաձևը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56787" y="3423606"/>
                <a:ext cx="8030592" cy="78441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5400" i="1">
                          <a:latin typeface="Cambria Math" panose="02040503050406030204" pitchFamily="18" charset="0"/>
                        </a:rPr>
                        <m:t>𝐸𝐶𝐿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𝑃𝐷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𝐸𝐴𝐷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5400" i="1">
                          <a:latin typeface="Cambria Math" panose="02040503050406030204" pitchFamily="18" charset="0"/>
                        </a:rPr>
                        <m:t>𝐿𝐺𝐷</m:t>
                      </m:r>
                    </m:oMath>
                  </m:oMathPara>
                </a14:m>
                <a:endParaRPr lang="ru-RU" sz="5400" dirty="0"/>
              </a:p>
              <a:p>
                <a:pPr marL="0" indent="0">
                  <a:buNone/>
                </a:pPr>
                <a:endParaRPr lang="ru-RU" sz="5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6787" y="3423606"/>
                <a:ext cx="8030592" cy="784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60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12" y="0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ECL-</a:t>
            </a:r>
            <a:r>
              <a:rPr lang="hy-AM" dirty="0" smtClean="0"/>
              <a:t>ի Հաշվարկման Ալգորիթմը</a:t>
            </a:r>
            <a:endParaRPr lang="ru-RU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17056" y="1322787"/>
            <a:ext cx="4136256" cy="506046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083214" y="1478630"/>
            <a:ext cx="2301418" cy="474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4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623" y="1758672"/>
            <a:ext cx="4363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SSMS </a:t>
            </a:r>
            <a:r>
              <a:rPr lang="hy-AM" sz="3600" dirty="0" smtClean="0"/>
              <a:t>Ծրագրային Միջավայրը</a:t>
            </a:r>
            <a:endParaRPr lang="ru-RU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41" y="0"/>
            <a:ext cx="6280659" cy="685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6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09" y="0"/>
            <a:ext cx="11505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11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5" y="0"/>
            <a:ext cx="11897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8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324</Words>
  <Application>Microsoft Office PowerPoint</Application>
  <PresentationFormat>Widescreen</PresentationFormat>
  <Paragraphs>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Stylafen</vt:lpstr>
      <vt:lpstr>Sylfaen</vt:lpstr>
      <vt:lpstr>Times New Roman</vt:lpstr>
      <vt:lpstr>Office Theme</vt:lpstr>
      <vt:lpstr>Վարկային ռիսկի մոդելավորում ամպային տեխնոլոգիաներով և ակնկալվող վարկային վնասների գնահատում՝ ֆինանսական տվյալների հիման վրա (ՖՀՄՍ 9 պահանջների համատեքստում)</vt:lpstr>
      <vt:lpstr>Ամպային Տեխնոլոգիաներ</vt:lpstr>
      <vt:lpstr>PowerPoint Presentation</vt:lpstr>
      <vt:lpstr>PowerPoint Presentation</vt:lpstr>
      <vt:lpstr>Azure Data Factory (ADF)</vt:lpstr>
      <vt:lpstr>Ռեգրեսսիոն Մոդելի Ընտրություն</vt:lpstr>
      <vt:lpstr>PD (Probability of Default)-ի Բանաձևը</vt:lpstr>
      <vt:lpstr>PowerPoint Presentation</vt:lpstr>
      <vt:lpstr>tahn(x)=(e^x-e^(-x))/(e^x+e^(-x) )  [-1;1]  new_tahn(x)=(tahn(x)+1)/2 [0;1] </vt:lpstr>
      <vt:lpstr>PowerPoint Presentation</vt:lpstr>
      <vt:lpstr>EAD Գործակցի Բանաձևը</vt:lpstr>
      <vt:lpstr>LGD (Կորուստը չվճարման դեպքում) Գործակցի Բանաձևը</vt:lpstr>
      <vt:lpstr>ECL (Expected Credit Loss) Հաշվման Բանաձևը</vt:lpstr>
      <vt:lpstr>ECL-ի Հաշվարկման Ալգորիթմը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62</cp:revision>
  <dcterms:created xsi:type="dcterms:W3CDTF">2025-12-04T19:58:14Z</dcterms:created>
  <dcterms:modified xsi:type="dcterms:W3CDTF">2026-05-13T20:38:46Z</dcterms:modified>
</cp:coreProperties>
</file>