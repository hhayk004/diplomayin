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1" r:id="rId5"/>
    <p:sldId id="257" r:id="rId6"/>
    <p:sldId id="258" r:id="rId7"/>
    <p:sldId id="259" r:id="rId8"/>
    <p:sldId id="260" r:id="rId9"/>
    <p:sldId id="262" r:id="rId10"/>
    <p:sldId id="266" r:id="rId11"/>
    <p:sldId id="267" r:id="rId12"/>
    <p:sldId id="270" r:id="rId13"/>
    <p:sldId id="265" r:id="rId14"/>
    <p:sldId id="268" r:id="rId15"/>
    <p:sldId id="263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04.03.2026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485148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Դրվածք</a:t>
            </a:r>
            <a:br>
              <a:rPr lang="hy-AM" dirty="0" smtClean="0">
                <a:latin typeface="Stylafen"/>
              </a:rPr>
            </a:br>
            <a:r>
              <a:rPr lang="hy-AM" sz="3600" dirty="0" smtClean="0">
                <a:latin typeface="Stylafen"/>
              </a:rPr>
              <a:t>Վարկային ռիսկի մոդելավորում</a:t>
            </a:r>
            <a:r>
              <a:rPr lang="en-US" sz="3600" dirty="0" smtClean="0">
                <a:latin typeface="Stylafen"/>
              </a:rPr>
              <a:t> </a:t>
            </a:r>
            <a:endParaRPr lang="ru-RU" sz="3600" dirty="0">
              <a:latin typeface="Stylafe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936" y="1992529"/>
            <a:ext cx="9806127" cy="411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y-AM" dirty="0" smtClean="0"/>
              <a:t>Տեղեկատվական Տեխնոլոգիաների Մոդելները</a:t>
            </a:r>
            <a:endParaRPr lang="ru-RU" dirty="0"/>
          </a:p>
        </p:txBody>
      </p:sp>
      <p:pic>
        <p:nvPicPr>
          <p:cNvPr id="5" name="Picture 2" descr="IaaS vs. PaaS vs. Saa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8977" y="1896646"/>
            <a:ext cx="6814045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8530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17250" y="337351"/>
            <a:ext cx="1139005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 smtClean="0"/>
              <a:t>ETL </a:t>
            </a:r>
            <a:r>
              <a:rPr lang="hy-AM" sz="4400" dirty="0" smtClean="0"/>
              <a:t>և </a:t>
            </a:r>
            <a:r>
              <a:rPr lang="en-US" sz="4400" dirty="0" smtClean="0"/>
              <a:t>ELT</a:t>
            </a:r>
            <a:r>
              <a:rPr lang="hy-AM" sz="4400" dirty="0"/>
              <a:t> </a:t>
            </a:r>
            <a:r>
              <a:rPr lang="hy-AM" sz="4400" dirty="0" smtClean="0"/>
              <a:t>տվյալների ինտեգրման եղանակներ</a:t>
            </a:r>
            <a:endParaRPr lang="ru-RU" sz="4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75" y="1405532"/>
            <a:ext cx="10058400" cy="475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Ճարտարագիտություն</a:t>
            </a:r>
            <a:endParaRPr lang="ru-RU" dirty="0">
              <a:latin typeface="Stylafen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07972"/>
            <a:ext cx="10515600" cy="4315624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98508"/>
            <a:ext cx="10515600" cy="1325563"/>
          </a:xfrm>
        </p:spPr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6113"/>
            <a:ext cx="10515600" cy="3155456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418391"/>
            <a:ext cx="10515600" cy="1325563"/>
          </a:xfrm>
        </p:spPr>
        <p:txBody>
          <a:bodyPr/>
          <a:lstStyle/>
          <a:p>
            <a:pPr algn="ctr"/>
            <a:r>
              <a:rPr lang="hy-AM" dirty="0">
                <a:latin typeface="Stylafen"/>
              </a:rPr>
              <a:t>Տվյալային </a:t>
            </a:r>
            <a:r>
              <a:rPr lang="hy-AM" dirty="0" smtClean="0">
                <a:latin typeface="Stylafen"/>
              </a:rPr>
              <a:t>խողովակաշարեր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8" y="1743954"/>
            <a:ext cx="10515601" cy="3882683"/>
          </a:xfrm>
        </p:spPr>
      </p:pic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821" y="1825625"/>
            <a:ext cx="8936358" cy="4351338"/>
          </a:xfr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6055" y="461639"/>
            <a:ext cx="10515600" cy="846169"/>
          </a:xfrm>
        </p:spPr>
        <p:txBody>
          <a:bodyPr/>
          <a:lstStyle/>
          <a:p>
            <a:pPr algn="ctr"/>
            <a:r>
              <a:rPr lang="en-US" dirty="0" smtClean="0"/>
              <a:t>PD (</a:t>
            </a:r>
            <a:r>
              <a:rPr lang="en-US" dirty="0"/>
              <a:t>Probability of </a:t>
            </a:r>
            <a:r>
              <a:rPr lang="en-US" dirty="0" smtClean="0"/>
              <a:t>Default)-</a:t>
            </a:r>
            <a:r>
              <a:rPr lang="hy-AM" dirty="0" smtClean="0"/>
              <a:t>ի Բանաձևը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59005" y="1161130"/>
                <a:ext cx="8149701" cy="970799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endParaRPr lang="ru-RU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hy-AM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hy-AM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  <m:e>
                          <m:r>
                            <a:rPr lang="hy-AM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hy-AM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hy-AM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hy-AM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hy-AM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hy-AM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9005" y="1161130"/>
                <a:ext cx="8149701" cy="97079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Sigmoid Function - GeeksforGeek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3946" y="2300606"/>
            <a:ext cx="6724624" cy="4352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0628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15541"/>
            <a:ext cx="10515600" cy="1325563"/>
          </a:xfrm>
        </p:spPr>
        <p:txBody>
          <a:bodyPr/>
          <a:lstStyle/>
          <a:p>
            <a:pPr algn="ctr"/>
            <a:r>
              <a:rPr lang="hy-AM" dirty="0"/>
              <a:t>EAD </a:t>
            </a:r>
            <a:r>
              <a:rPr lang="hy-AM" dirty="0" smtClean="0"/>
              <a:t>Գործակցի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hy-AM" sz="32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𝐷𝑟𝑎𝑤𝑛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𝐴𝑚𝑜𝑢𝑛𝑡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𝐶𝐶𝐹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𝑈𝑛𝑑𝑟𝑎𝑤𝑛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𝐴𝑚𝑜𝑢𝑛𝑡</m:t>
                      </m:r>
                      <m:r>
                        <a:rPr lang="hy-AM" sz="3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5527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838200" y="915541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LGD</a:t>
            </a:r>
            <a:r>
              <a:rPr lang="hy-AM" dirty="0" smtClean="0"/>
              <a:t> </a:t>
            </a:r>
            <a:r>
              <a:rPr lang="hy-AM" dirty="0" smtClean="0"/>
              <a:t>Գործակցի Բանաձևը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/>
                        <m:t>𝐿𝐺𝐷</m:t>
                      </m:r>
                      <m:r>
                        <a:rPr lang="ru-RU" b="0" i="1"/>
                        <m:t> = 1 − [ </m:t>
                      </m:r>
                      <m:r>
                        <a:rPr lang="ru-RU" b="0" i="1"/>
                        <m:t>𝛴</m:t>
                      </m:r>
                      <m:r>
                        <a:rPr lang="ru-RU" b="0" i="1"/>
                        <m:t> (</m:t>
                      </m:r>
                      <m:r>
                        <a:rPr lang="ru-RU" b="0" i="1"/>
                        <m:t>𝐶𝑎𝑠h</m:t>
                      </m:r>
                      <m:r>
                        <a:rPr lang="ru-RU" b="0" i="1"/>
                        <m:t>_</m:t>
                      </m:r>
                      <m:r>
                        <a:rPr lang="ru-RU" b="0" i="1"/>
                        <m:t>𝑡</m:t>
                      </m:r>
                      <m:r>
                        <a:rPr lang="ru-RU" b="0" i="1"/>
                        <m:t> − </m:t>
                      </m:r>
                      <m:r>
                        <a:rPr lang="ru-RU" b="0" i="1"/>
                        <m:t>𝐶𝑜𝑠𝑡</m:t>
                      </m:r>
                      <m:r>
                        <a:rPr lang="ru-RU" b="0" i="1"/>
                        <m:t>_</m:t>
                      </m:r>
                      <m:r>
                        <a:rPr lang="ru-RU" b="0" i="1"/>
                        <m:t>𝑡</m:t>
                      </m:r>
                      <m:r>
                        <a:rPr lang="ru-RU" b="0" i="1"/>
                        <m:t>) / (1 + </m:t>
                      </m:r>
                      <m:r>
                        <a:rPr lang="ru-RU" b="0" i="1"/>
                        <m:t>𝑟</m:t>
                      </m:r>
                      <m:r>
                        <a:rPr lang="ru-RU" b="0" i="1"/>
                        <m:t>)^</m:t>
                      </m:r>
                      <m:r>
                        <a:rPr lang="ru-RU" b="0" i="1"/>
                        <m:t>𝑡</m:t>
                      </m:r>
                      <m:r>
                        <a:rPr lang="ru-RU" b="0" i="1"/>
                        <m:t> ] / </m:t>
                      </m:r>
                      <m:r>
                        <a:rPr lang="ru-RU" b="0" i="1"/>
                        <m:t>𝐸𝐴𝐷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077377"/>
                <a:ext cx="10515600" cy="75777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266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683" y="924419"/>
            <a:ext cx="11238390" cy="1325563"/>
          </a:xfrm>
        </p:spPr>
        <p:txBody>
          <a:bodyPr/>
          <a:lstStyle/>
          <a:p>
            <a:pPr algn="ctr"/>
            <a:r>
              <a:rPr lang="en-US" dirty="0" smtClean="0"/>
              <a:t>ECL (Expected Credit Loss) </a:t>
            </a:r>
            <a:r>
              <a:rPr lang="hy-AM" dirty="0" smtClean="0"/>
              <a:t>Հաշվման Բանաձևը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𝐸𝐶𝐿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𝑃𝐷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𝐸𝐴𝐷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ru-RU" sz="5400" i="1">
                          <a:latin typeface="Cambria Math" panose="02040503050406030204" pitchFamily="18" charset="0"/>
                        </a:rPr>
                        <m:t>𝐿𝐺𝐷</m:t>
                      </m:r>
                    </m:oMath>
                  </m:oMathPara>
                </a14:m>
                <a:endParaRPr lang="ru-RU" sz="5400" dirty="0"/>
              </a:p>
              <a:p>
                <a:pPr marL="0" indent="0">
                  <a:buNone/>
                </a:pPr>
                <a:endParaRPr lang="ru-RU" sz="5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56787" y="3423606"/>
                <a:ext cx="8030592" cy="78441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6014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977684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ECL-</a:t>
            </a:r>
            <a:r>
              <a:rPr lang="hy-AM" dirty="0" smtClean="0"/>
              <a:t>ի Հաշվարկման Ալգորիթմը</a:t>
            </a:r>
            <a:endParaRPr lang="ru-RU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64" y="2769107"/>
            <a:ext cx="11603069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845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60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173</Words>
  <Application>Microsoft Office PowerPoint</Application>
  <PresentationFormat>Widescreen</PresentationFormat>
  <Paragraphs>21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Cambria Math</vt:lpstr>
      <vt:lpstr>Stylafen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Վարկային ռիսկի մոդելավորում </vt:lpstr>
      <vt:lpstr>PowerPoint Presentation</vt:lpstr>
      <vt:lpstr>Ամպային Տեխնոլոգիաներ</vt:lpstr>
      <vt:lpstr>PowerPoint Presentation</vt:lpstr>
      <vt:lpstr>Մեդալիոն Ճարտարագիտություն</vt:lpstr>
      <vt:lpstr>OLTP/OLAP համակարգեր</vt:lpstr>
      <vt:lpstr>Տվյալային խողովակաշարեր</vt:lpstr>
      <vt:lpstr>Azure Data Factory (ADF)</vt:lpstr>
      <vt:lpstr>PD (Probability of Default)-ի Բանաձևը</vt:lpstr>
      <vt:lpstr>EAD Գործակցի Բանաձևը</vt:lpstr>
      <vt:lpstr>LGD Գործակցի Բանաձևը</vt:lpstr>
      <vt:lpstr>ECL (Expected Credit Loss) Հաշվման Բանաձևը</vt:lpstr>
      <vt:lpstr>ECL-ի Հաշվարկման Ալգորիթմը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39</cp:revision>
  <dcterms:created xsi:type="dcterms:W3CDTF">2025-12-04T19:58:14Z</dcterms:created>
  <dcterms:modified xsi:type="dcterms:W3CDTF">2026-03-04T18:33:37Z</dcterms:modified>
</cp:coreProperties>
</file>