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4" r:id="rId4"/>
    <p:sldId id="261" r:id="rId5"/>
    <p:sldId id="257" r:id="rId6"/>
    <p:sldId id="258" r:id="rId7"/>
    <p:sldId id="259" r:id="rId8"/>
    <p:sldId id="260" r:id="rId9"/>
    <p:sldId id="262" r:id="rId10"/>
    <p:sldId id="265" r:id="rId11"/>
    <p:sldId id="266" r:id="rId12"/>
    <p:sldId id="267" r:id="rId13"/>
    <p:sldId id="268" r:id="rId14"/>
    <p:sldId id="26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4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8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6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9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9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1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60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10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8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4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45A88-84CD-47B4-B068-1CCEBD78BFD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5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276" y="634091"/>
            <a:ext cx="10635448" cy="3485148"/>
          </a:xfrm>
        </p:spPr>
        <p:txBody>
          <a:bodyPr>
            <a:noAutofit/>
          </a:bodyPr>
          <a:lstStyle/>
          <a:p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Վարկային </a:t>
            </a:r>
            <a:r>
              <a:rPr lang="hy-AM" sz="4000" dirty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ռիսկի մոդելավորում ամպային տեխնոլոգիաներով և ակնկալվող վարկային վնասների գնահատում՝ ֆինանսական տվյալների հիման վրա (ՖՀՄՍ 9 պահանջների համատեքստում</a:t>
            </a:r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)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Stylafen"/>
            </a:endParaRPr>
          </a:p>
        </p:txBody>
      </p:sp>
      <p:sp>
        <p:nvSpPr>
          <p:cNvPr id="5" name="AutoShape 4" descr="Types Of Servers: Shared, Dedicated, Cloud, and Virtual — Jones IT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524000" y="4924811"/>
            <a:ext cx="9144000" cy="6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hy-AM" sz="3200" dirty="0" smtClean="0">
                <a:solidFill>
                  <a:srgbClr val="002060"/>
                </a:solidFill>
              </a:rPr>
              <a:t>Հայկ Հովսեփյան ՄԹ240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y-AM" dirty="0" smtClean="0"/>
              <a:t>Տեղեկատվական Տեխնոլոգիաների Մոդելները</a:t>
            </a:r>
            <a:endParaRPr lang="ru-RU" dirty="0"/>
          </a:p>
        </p:txBody>
      </p:sp>
      <p:pic>
        <p:nvPicPr>
          <p:cNvPr id="5" name="Picture 2" descr="IaaS vs. PaaS vs. Sa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77" y="1896646"/>
            <a:ext cx="681404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85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Խնդրի Դրվածք</a:t>
            </a:r>
            <a:br>
              <a:rPr lang="hy-AM" dirty="0" smtClean="0">
                <a:latin typeface="Stylafen"/>
              </a:rPr>
            </a:br>
            <a:r>
              <a:rPr lang="hy-AM" sz="3600" dirty="0" smtClean="0">
                <a:latin typeface="Stylafen"/>
              </a:rPr>
              <a:t>Վարկային ռիսկի մոդելավորում</a:t>
            </a:r>
            <a:r>
              <a:rPr lang="en-US" sz="3600" dirty="0" smtClean="0">
                <a:latin typeface="Stylafen"/>
              </a:rPr>
              <a:t> </a:t>
            </a:r>
            <a:endParaRPr lang="ru-RU" sz="3600" dirty="0">
              <a:latin typeface="Stylafe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36" y="1992529"/>
            <a:ext cx="9806127" cy="411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1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Ամպային Տեխնոլոգիաներ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389"/>
            <a:ext cx="10515600" cy="3837810"/>
          </a:xfrm>
        </p:spPr>
      </p:pic>
    </p:spTree>
    <p:extLst>
      <p:ext uri="{BB962C8B-B14F-4D97-AF65-F5344CB8AC3E}">
        <p14:creationId xmlns:p14="http://schemas.microsoft.com/office/powerpoint/2010/main" val="2955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250" y="337351"/>
            <a:ext cx="11390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ETL </a:t>
            </a:r>
            <a:r>
              <a:rPr lang="hy-AM" sz="4400" dirty="0" smtClean="0"/>
              <a:t>և </a:t>
            </a:r>
            <a:r>
              <a:rPr lang="en-US" sz="4400" dirty="0" smtClean="0"/>
              <a:t>ELT</a:t>
            </a:r>
            <a:r>
              <a:rPr lang="hy-AM" sz="4400" dirty="0"/>
              <a:t> </a:t>
            </a:r>
            <a:r>
              <a:rPr lang="hy-AM" sz="4400" dirty="0" smtClean="0"/>
              <a:t>տվյալների ինտեգրման եղանակներ</a:t>
            </a:r>
            <a:endParaRPr lang="ru-RU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75" y="1405532"/>
            <a:ext cx="10058400" cy="47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Մեդալիոն Ճարտարագիտություն</a:t>
            </a:r>
            <a:endParaRPr lang="ru-RU" dirty="0">
              <a:latin typeface="Stylafen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7972"/>
            <a:ext cx="10515600" cy="4315624"/>
          </a:xfrm>
        </p:spPr>
      </p:pic>
    </p:spTree>
    <p:extLst>
      <p:ext uri="{BB962C8B-B14F-4D97-AF65-F5344CB8AC3E}">
        <p14:creationId xmlns:p14="http://schemas.microsoft.com/office/powerpoint/2010/main" val="339883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850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OLTP/OLAP </a:t>
            </a:r>
            <a:r>
              <a:rPr lang="hy-AM" dirty="0" smtClean="0">
                <a:latin typeface="Stylafen"/>
              </a:rPr>
              <a:t>համակարգեր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6113"/>
            <a:ext cx="10515600" cy="3155456"/>
          </a:xfrm>
        </p:spPr>
      </p:pic>
    </p:spTree>
    <p:extLst>
      <p:ext uri="{BB962C8B-B14F-4D97-AF65-F5344CB8AC3E}">
        <p14:creationId xmlns:p14="http://schemas.microsoft.com/office/powerpoint/2010/main" val="206893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18391"/>
            <a:ext cx="10515600" cy="1325563"/>
          </a:xfrm>
        </p:spPr>
        <p:txBody>
          <a:bodyPr/>
          <a:lstStyle/>
          <a:p>
            <a:pPr algn="ctr"/>
            <a:r>
              <a:rPr lang="hy-AM" dirty="0">
                <a:latin typeface="Stylafen"/>
              </a:rPr>
              <a:t>Տվյալային </a:t>
            </a:r>
            <a:r>
              <a:rPr lang="hy-AM" dirty="0" smtClean="0">
                <a:latin typeface="Stylafen"/>
              </a:rPr>
              <a:t>խողովակաշարեր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743954"/>
            <a:ext cx="10515601" cy="3882683"/>
          </a:xfrm>
        </p:spPr>
      </p:pic>
    </p:spTree>
    <p:extLst>
      <p:ext uri="{BB962C8B-B14F-4D97-AF65-F5344CB8AC3E}">
        <p14:creationId xmlns:p14="http://schemas.microsoft.com/office/powerpoint/2010/main" val="323418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Azure Data Factory (ADF)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821" y="1825625"/>
            <a:ext cx="8936358" cy="4351338"/>
          </a:xfrm>
        </p:spPr>
      </p:pic>
    </p:spTree>
    <p:extLst>
      <p:ext uri="{BB962C8B-B14F-4D97-AF65-F5344CB8AC3E}">
        <p14:creationId xmlns:p14="http://schemas.microsoft.com/office/powerpoint/2010/main" val="24075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683" y="924419"/>
            <a:ext cx="11238390" cy="1325563"/>
          </a:xfrm>
        </p:spPr>
        <p:txBody>
          <a:bodyPr/>
          <a:lstStyle/>
          <a:p>
            <a:pPr algn="ctr"/>
            <a:r>
              <a:rPr lang="en-US" dirty="0" smtClean="0"/>
              <a:t>ECL (Expected Credit Loss) </a:t>
            </a:r>
            <a:r>
              <a:rPr lang="hy-AM" dirty="0" smtClean="0"/>
              <a:t>Հաշվման Բանաձևը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𝐸𝐶𝐿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𝑃𝐷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𝐸𝐴𝐷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𝐿𝐺𝐷</m:t>
                      </m:r>
                    </m:oMath>
                  </m:oMathPara>
                </a14:m>
                <a:endParaRPr lang="ru-RU" sz="5400" dirty="0"/>
              </a:p>
              <a:p>
                <a:pPr marL="0" indent="0">
                  <a:buNone/>
                </a:pPr>
                <a:endParaRPr lang="ru-RU" sz="5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60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221" y="1039828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PD (</a:t>
            </a:r>
            <a:r>
              <a:rPr lang="en-US" dirty="0"/>
              <a:t>Probability of </a:t>
            </a:r>
            <a:r>
              <a:rPr lang="en-US" dirty="0" smtClean="0"/>
              <a:t>Default)-</a:t>
            </a:r>
            <a:r>
              <a:rPr lang="hy-AM" dirty="0" smtClean="0"/>
              <a:t>ի Բանաձևը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9221" y="2660126"/>
                <a:ext cx="10515600" cy="1938507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hy-AM" sz="4000" dirty="0"/>
                  <a:t>Սի</a:t>
                </a:r>
                <a:r>
                  <a:rPr lang="hy-AM" sz="4000" dirty="0" smtClean="0"/>
                  <a:t>գմոիդ ֆունկցիա: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y-AM" sz="4000"/>
                      <m:t>σ</m:t>
                    </m:r>
                    <m:d>
                      <m:dPr>
                        <m:ctrlPr>
                          <a:rPr lang="ru-RU" sz="40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y-AM" sz="4000"/>
                          <m:t>z</m:t>
                        </m:r>
                      </m:e>
                    </m:d>
                    <m:r>
                      <a:rPr lang="hy-AM" sz="4000"/>
                      <m:t>=</m:t>
                    </m:r>
                    <m:f>
                      <m:fPr>
                        <m:ctrlPr>
                          <a:rPr lang="ru-RU" sz="4000" i="1"/>
                        </m:ctrlPr>
                      </m:fPr>
                      <m:num>
                        <m:r>
                          <a:rPr lang="hy-AM" sz="4000"/>
                          <m:t>1</m:t>
                        </m:r>
                      </m:num>
                      <m:den>
                        <m:r>
                          <a:rPr lang="hy-AM" sz="4000"/>
                          <m:t>1+</m:t>
                        </m:r>
                        <m:sSup>
                          <m:sSupPr>
                            <m:ctrlPr>
                              <a:rPr lang="ru-RU" sz="4000" i="1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hy-AM" sz="4000"/>
                              <m:t>e</m:t>
                            </m:r>
                          </m:e>
                          <m:sup>
                            <m:r>
                              <a:rPr lang="hy-AM" sz="4000" i="1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hy-AM" sz="4000"/>
                              <m:t>z</m:t>
                            </m:r>
                          </m:sup>
                        </m:sSup>
                      </m:den>
                    </m:f>
                  </m:oMath>
                </a14:m>
                <a:endParaRPr lang="ru-RU" sz="4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4000" i="1"/>
                        <m:t>𝑃</m:t>
                      </m:r>
                      <m:d>
                        <m:dPr>
                          <m:ctrlPr>
                            <a:rPr lang="ru-RU" sz="4000" i="1"/>
                          </m:ctrlPr>
                        </m:dPr>
                        <m:e>
                          <m:r>
                            <a:rPr lang="hy-AM" sz="4000" i="1"/>
                            <m:t>𝑦</m:t>
                          </m:r>
                          <m:r>
                            <a:rPr lang="hy-AM" sz="4000" i="1"/>
                            <m:t>=1</m:t>
                          </m:r>
                        </m:e>
                        <m:e>
                          <m:r>
                            <a:rPr lang="hy-AM" sz="4000" i="1"/>
                            <m:t>𝑋</m:t>
                          </m:r>
                        </m:e>
                      </m:d>
                      <m:r>
                        <a:rPr lang="hy-AM" sz="4000" i="1"/>
                        <m:t>=</m:t>
                      </m:r>
                      <m:r>
                        <a:rPr lang="hy-AM" sz="4000" i="1"/>
                        <m:t>𝜎</m:t>
                      </m:r>
                      <m:d>
                        <m:dPr>
                          <m:ctrlPr>
                            <a:rPr lang="ru-RU" sz="4000" i="1"/>
                          </m:ctrlPr>
                        </m:dPr>
                        <m:e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𝛽</m:t>
                              </m:r>
                            </m:e>
                            <m:sub>
                              <m:r>
                                <a:rPr lang="hy-AM" sz="4000" i="1"/>
                                <m:t>0</m:t>
                              </m:r>
                            </m:sub>
                          </m:sSub>
                          <m:r>
                            <a:rPr lang="hy-AM" sz="4000" i="1"/>
                            <m:t>+</m:t>
                          </m:r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𝛽</m:t>
                              </m:r>
                            </m:e>
                            <m:sub>
                              <m:r>
                                <a:rPr lang="hy-AM" sz="4000" i="1"/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𝑥</m:t>
                              </m:r>
                            </m:e>
                            <m:sub>
                              <m:r>
                                <a:rPr lang="hy-AM" sz="4000" i="1"/>
                                <m:t>1</m:t>
                              </m:r>
                            </m:sub>
                          </m:sSub>
                          <m:r>
                            <a:rPr lang="hy-AM" sz="4000" i="1"/>
                            <m:t>+</m:t>
                          </m:r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𝛽</m:t>
                              </m:r>
                            </m:e>
                            <m:sub>
                              <m:r>
                                <a:rPr lang="hy-AM" sz="4000" i="1"/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𝑥</m:t>
                              </m:r>
                            </m:e>
                            <m:sub>
                              <m:r>
                                <a:rPr lang="hy-AM" sz="4000" i="1"/>
                                <m:t>2</m:t>
                              </m:r>
                            </m:sub>
                          </m:sSub>
                          <m:r>
                            <a:rPr lang="hy-AM" sz="4000" i="1"/>
                            <m:t>+…+</m:t>
                          </m:r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𝛽</m:t>
                              </m:r>
                            </m:e>
                            <m:sub>
                              <m:r>
                                <a:rPr lang="hy-AM" sz="4000" i="1"/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4000" i="1"/>
                              </m:ctrlPr>
                            </m:sSubPr>
                            <m:e>
                              <m:r>
                                <a:rPr lang="hy-AM" sz="4000" i="1"/>
                                <m:t>𝑥</m:t>
                              </m:r>
                            </m:e>
                            <m:sub>
                              <m:r>
                                <a:rPr lang="hy-AM" sz="4000" i="1"/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9221" y="2660126"/>
                <a:ext cx="10515600" cy="1938507"/>
              </a:xfrm>
              <a:blipFill>
                <a:blip r:embed="rId2"/>
                <a:stretch>
                  <a:fillRect t="-15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62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5541"/>
            <a:ext cx="10515600" cy="1325563"/>
          </a:xfrm>
        </p:spPr>
        <p:txBody>
          <a:bodyPr/>
          <a:lstStyle/>
          <a:p>
            <a:pPr algn="ctr"/>
            <a:r>
              <a:rPr lang="hy-AM" dirty="0"/>
              <a:t>EAD </a:t>
            </a:r>
            <a:r>
              <a:rPr lang="hy-AM" dirty="0" smtClean="0"/>
              <a:t>Գործակցի Բանաձևը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3200" i="1"/>
                        <m:t>𝐸𝐴𝐷</m:t>
                      </m:r>
                      <m:r>
                        <a:rPr lang="hy-AM" sz="3200" i="1"/>
                        <m:t>=</m:t>
                      </m:r>
                      <m:r>
                        <a:rPr lang="hy-AM" sz="3200" i="1"/>
                        <m:t>𝐷𝑟𝑎𝑤𝑛</m:t>
                      </m:r>
                      <m:r>
                        <a:rPr lang="hy-AM" sz="3200" i="1"/>
                        <m:t> </m:t>
                      </m:r>
                      <m:r>
                        <a:rPr lang="hy-AM" sz="3200" i="1"/>
                        <m:t>𝐴𝑚𝑜𝑢𝑛𝑡</m:t>
                      </m:r>
                      <m:r>
                        <a:rPr lang="hy-AM" sz="3200" i="1"/>
                        <m:t>+(</m:t>
                      </m:r>
                      <m:r>
                        <a:rPr lang="hy-AM" sz="3200" i="1"/>
                        <m:t>𝐶𝐶𝐹</m:t>
                      </m:r>
                      <m:r>
                        <a:rPr lang="hy-AM" sz="3200" i="1"/>
                        <m:t>×</m:t>
                      </m:r>
                      <m:r>
                        <a:rPr lang="hy-AM" sz="3200" i="1"/>
                        <m:t>𝑈𝑛𝑑𝑟𝑎𝑤𝑛</m:t>
                      </m:r>
                      <m:r>
                        <a:rPr lang="hy-AM" sz="3200" i="1"/>
                        <m:t> </m:t>
                      </m:r>
                      <m:r>
                        <a:rPr lang="hy-AM" sz="3200" i="1"/>
                        <m:t>𝐴𝑚𝑜𝑢𝑛𝑡</m:t>
                      </m:r>
                      <m:r>
                        <a:rPr lang="hy-AM" sz="3200" i="1"/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77377"/>
                <a:ext cx="10515600" cy="7577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527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4204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ECL-</a:t>
            </a:r>
            <a:r>
              <a:rPr lang="hy-AM" dirty="0" smtClean="0"/>
              <a:t>ի Հաշվարկման Ալգորիթմը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6949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hy-AM" sz="3600" dirty="0"/>
              <a:t>Staging</a:t>
            </a:r>
            <a:endParaRPr lang="ru-RU" sz="3600" dirty="0"/>
          </a:p>
          <a:p>
            <a:pPr lvl="0"/>
            <a:r>
              <a:rPr lang="hy-AM" sz="3600" dirty="0"/>
              <a:t>CCF</a:t>
            </a:r>
            <a:endParaRPr lang="ru-RU" sz="3600" dirty="0"/>
          </a:p>
          <a:p>
            <a:pPr lvl="0"/>
            <a:r>
              <a:rPr lang="hy-AM" sz="3600" dirty="0"/>
              <a:t>MPD – PD</a:t>
            </a:r>
            <a:endParaRPr lang="ru-RU" sz="3600" dirty="0"/>
          </a:p>
          <a:p>
            <a:pPr lvl="0"/>
            <a:r>
              <a:rPr lang="hy-AM" sz="3600" dirty="0"/>
              <a:t>EAD-ի ստացում</a:t>
            </a:r>
            <a:endParaRPr lang="ru-RU" sz="3600" dirty="0"/>
          </a:p>
          <a:p>
            <a:pPr lvl="0"/>
            <a:r>
              <a:rPr lang="hy-AM" sz="3600" dirty="0"/>
              <a:t>LGD-Eco</a:t>
            </a:r>
            <a:r>
              <a:rPr lang="en-US" sz="3600" dirty="0"/>
              <a:t>n</a:t>
            </a:r>
            <a:r>
              <a:rPr lang="hy-AM" sz="3600" dirty="0"/>
              <a:t> ստացում</a:t>
            </a:r>
            <a:endParaRPr lang="ru-RU" sz="3600" dirty="0"/>
          </a:p>
          <a:p>
            <a:pPr lvl="0"/>
            <a:r>
              <a:rPr lang="hy-AM" sz="3600" dirty="0"/>
              <a:t>LGD-Stat-ի ստացում</a:t>
            </a:r>
            <a:endParaRPr lang="ru-RU" sz="3600" dirty="0"/>
          </a:p>
          <a:p>
            <a:pPr lvl="0"/>
            <a:r>
              <a:rPr lang="hy-AM" sz="3600" dirty="0"/>
              <a:t>ECL</a:t>
            </a:r>
            <a:r>
              <a:rPr lang="en-US" sz="3600" dirty="0"/>
              <a:t>-</a:t>
            </a:r>
            <a:r>
              <a:rPr lang="hy-AM" sz="3600" dirty="0"/>
              <a:t>ի </a:t>
            </a:r>
            <a:r>
              <a:rPr lang="hy-AM" sz="3600" dirty="0" smtClean="0"/>
              <a:t>ստացում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2284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099" y="23182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y-AM" sz="6000" dirty="0" smtClean="0">
                <a:latin typeface="Stylafen"/>
              </a:rPr>
              <a:t>Շնորհակալություն</a:t>
            </a:r>
            <a:endParaRPr lang="ru-RU" sz="4800" dirty="0">
              <a:latin typeface="Stylafen"/>
            </a:endParaRPr>
          </a:p>
        </p:txBody>
      </p:sp>
    </p:spTree>
    <p:extLst>
      <p:ext uri="{BB962C8B-B14F-4D97-AF65-F5344CB8AC3E}">
        <p14:creationId xmlns:p14="http://schemas.microsoft.com/office/powerpoint/2010/main" val="24862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180</Words>
  <Application>Microsoft Office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Stylafen</vt:lpstr>
      <vt:lpstr>Office Theme</vt:lpstr>
      <vt:lpstr>Վարկային ռիսկի մոդելավորում ամպային տեխնոլոգիաներով և ակնկալվող վարկային վնասների գնահատում՝ ֆինանսական տվյալների հիման վրա (ՖՀՄՍ 9 պահանջների համատեքստում)</vt:lpstr>
      <vt:lpstr>PowerPoint Presentation</vt:lpstr>
      <vt:lpstr>Խնդրի Դրվածք Վարկային ռիսկի մոդելավորում </vt:lpstr>
      <vt:lpstr>Ամպային Տեխնոլոգիաներ</vt:lpstr>
      <vt:lpstr>PowerPoint Presentation</vt:lpstr>
      <vt:lpstr>Մեդալիոն Ճարտարագիտություն</vt:lpstr>
      <vt:lpstr>OLTP/OLAP համակարգեր</vt:lpstr>
      <vt:lpstr>Տվյալային խողովակաշարեր</vt:lpstr>
      <vt:lpstr>Azure Data Factory (ADF)</vt:lpstr>
      <vt:lpstr>ECL (Expected Credit Loss) Հաշվման Բանաձևը</vt:lpstr>
      <vt:lpstr>PD (Probability of Default)-ի Բանաձևը</vt:lpstr>
      <vt:lpstr>EAD Գործակցի Բանաձևը</vt:lpstr>
      <vt:lpstr>ECL-ի Հաշվարկման Ալգորիթմը</vt:lpstr>
      <vt:lpstr>Շնորհակալություն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35</cp:revision>
  <dcterms:created xsi:type="dcterms:W3CDTF">2025-12-04T19:58:14Z</dcterms:created>
  <dcterms:modified xsi:type="dcterms:W3CDTF">2026-03-02T21:15:11Z</dcterms:modified>
</cp:coreProperties>
</file>